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line: CTQ takes a patient profile - a guided form, uploaded notes, a photo or a PDF - and returns, for every trial in the database, a clear verdict with itemised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 mirrors the progress presentation; all screenshots in Output are live captures of the finished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it as a two-sided discovery problem: sites can't find patients, patients can't find trials. CTQ attacks the screening step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table for paper 1 of 6 - same format as the progress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table for paper 2 of 6 - same format as the progress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table for paper 3 of 6 - same format as the progress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table for paper 4 of 6 - same format as the progress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table for paper 5 of 6 - same format as the progress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table for paper 6 of 6 - same format as the progress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angle: a wrong 'eligible' wastes a site visit; a wrong 'not eligible' denies a patient a therapy. That's why CTQ has an Insufficient Information verdict instead of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 jobs map one-to-one onto the architecture: profile builder (ML NER), retrieval, rule engine, explanation,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to one sentence per tool; the next slide covers the web stack and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 summary: real client-server web app - validated API, persistence, production build - not a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Master slide for 'how everything is working'. Follow one patient left to right; the same pipeline feeds the evaluation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worked example is the live P001 demo: same facts appear in the screenshots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 shots are live captures of the current build. Demo script: load sample → results → Hybrid tab → Hindi note upload.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evaluation screen doubles as the project's own test harness - press one button, get scored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FN=0 (clinically most important). Explain the honesty rule, then note the shared code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future work to the documented limitations - each limitation has a matching item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six core papers from the progress presentation, plus the BERT/DistilBERT citation for the ML NER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script: Home → Find Trials → load Diabetes sample → Find Matching Trials → open an eligible card → Evaluation → Load bundled sample data →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5E6D70"/>
                </a:solidFill>
                <a:latin typeface="Calibri"/>
              </a:rPr>
              <a:t>Project Presentation on the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3700" b="1">
                <a:solidFill>
                  <a:srgbClr val="2E6A70"/>
                </a:solidFill>
                <a:latin typeface="Calibri"/>
              </a:rPr>
              <a:t>AI-Powered Clinical Trial Qualification System</a:t>
            </a:r>
          </a:p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388087"/>
                </a:solidFill>
                <a:latin typeface="Calibri"/>
              </a:rPr>
              <a:t>(CTQ — Clinical Trial Qualifier)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7323A"/>
                </a:solidFill>
                <a:latin typeface="Calibri"/>
              </a:rPr>
              <a:t>Yogesh Chauhan (202400474)  ·  Gaurav Gurung (202400007)  ·  Pragya Jain (202400385)  ·  Aditya Srivastava (202400102)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350" b="1">
                <a:solidFill>
                  <a:srgbClr val="17323A"/>
                </a:solidFill>
                <a:latin typeface="Calibri"/>
              </a:rPr>
              <a:t>Under the supervision of:  Dr. Saharul Alom Barlaskar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108960" y="1828800"/>
          <a:ext cx="5943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023360"/>
                <a:gridCol w="109728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323A"/>
                          </a:solidFill>
                          <a:latin typeface="Calibri"/>
                        </a:rPr>
                        <a:t>1.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Introduction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323A"/>
                          </a:solidFill>
                          <a:latin typeface="Calibri"/>
                        </a:rPr>
                        <a:t>2.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Literature Survey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2 - 7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323A"/>
                          </a:solidFill>
                          <a:latin typeface="Calibri"/>
                        </a:rPr>
                        <a:t>3.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Problem Definition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323A"/>
                          </a:solidFill>
                          <a:latin typeface="Calibri"/>
                        </a:rPr>
                        <a:t>4.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Possible Solution Strategy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323A"/>
                          </a:solidFill>
                          <a:latin typeface="Calibri"/>
                        </a:rPr>
                        <a:t>5.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Tools &amp; Technologies Used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10 - 11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323A"/>
                          </a:solidFill>
                          <a:latin typeface="Calibri"/>
                        </a:rPr>
                        <a:t>6.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Methodology &amp; Workflow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12 - 13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323A"/>
                          </a:solidFill>
                          <a:latin typeface="Calibri"/>
                        </a:rPr>
                        <a:t>7.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Output (live demos)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14 - 15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323A"/>
                          </a:solidFill>
                          <a:latin typeface="Calibri"/>
                        </a:rPr>
                        <a:t>8.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Results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323A"/>
                          </a:solidFill>
                          <a:latin typeface="Calibri"/>
                        </a:rPr>
                        <a:t>9.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Future Scope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73152">
                    <a:solidFill>
                      <a:srgbClr val="D7EC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323A"/>
                          </a:solidFill>
                          <a:latin typeface="Calibri"/>
                        </a:rPr>
                        <a:t>10.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References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323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949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388087"/>
                </a:solidFill>
                <a:latin typeface="Calibri"/>
              </a:rPr>
              <a:t>▪  </a:t>
            </a:r>
            <a:r>
              <a:rPr sz="1500" b="1">
                <a:solidFill>
                  <a:srgbClr val="2E6A70"/>
                </a:solidFill>
                <a:latin typeface="Calibri"/>
              </a:rPr>
              <a:t>Clinical trials are essential </a:t>
            </a:r>
            <a:r>
              <a:rPr sz="1500" b="0">
                <a:solidFill>
                  <a:srgbClr val="17323A"/>
                </a:solidFill>
                <a:latin typeface="Calibri"/>
              </a:rPr>
              <a:t>for developing and validating new medical treatments - yet finding eligible patients remains slow, manual and error-prone.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388087"/>
                </a:solidFill>
                <a:latin typeface="Calibri"/>
              </a:rPr>
              <a:t>▪  </a:t>
            </a:r>
            <a:r>
              <a:rPr sz="1500" b="1">
                <a:solidFill>
                  <a:srgbClr val="2E6A70"/>
                </a:solidFill>
                <a:latin typeface="Calibri"/>
              </a:rPr>
              <a:t>Screening is manual: </a:t>
            </a:r>
            <a:r>
              <a:rPr sz="1500" b="0">
                <a:solidFill>
                  <a:srgbClr val="17323A"/>
                </a:solidFill>
                <a:latin typeface="Calibri"/>
              </a:rPr>
              <a:t>coordinators read every patient record against long, free-text eligibility criteria - for every trial, every time.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388087"/>
                </a:solidFill>
                <a:latin typeface="Calibri"/>
              </a:rPr>
              <a:t>▪  </a:t>
            </a:r>
            <a:r>
              <a:rPr sz="1500" b="1">
                <a:solidFill>
                  <a:srgbClr val="2E6A70"/>
                </a:solidFill>
                <a:latin typeface="Calibri"/>
              </a:rPr>
              <a:t>Patients search blindly: </a:t>
            </a:r>
            <a:r>
              <a:rPr sz="1500" b="0">
                <a:solidFill>
                  <a:srgbClr val="17323A"/>
                </a:solidFill>
                <a:latin typeface="Calibri"/>
              </a:rPr>
              <a:t>most never learn which trials they could join, and trial sites are concentrated in a few big cities.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388087"/>
                </a:solidFill>
                <a:latin typeface="Calibri"/>
              </a:rPr>
              <a:t>▪  </a:t>
            </a:r>
            <a:r>
              <a:rPr sz="1500" b="1">
                <a:solidFill>
                  <a:srgbClr val="2E6A70"/>
                </a:solidFill>
                <a:latin typeface="Calibri"/>
              </a:rPr>
              <a:t>Our solution - CTQ: </a:t>
            </a:r>
            <a:r>
              <a:rPr sz="1500" b="0">
                <a:solidFill>
                  <a:srgbClr val="17323A"/>
                </a:solidFill>
                <a:latin typeface="Calibri"/>
              </a:rPr>
              <a:t>an AI-powered web application that reads a patient's profile (guided form OR uploaded unstructured notes/PDF/photo), screens it against a CTRI-format trial database, and returns a clear verdict with itemised reasons.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88087"/>
                </a:solidFill>
                <a:latin typeface="Calibri"/>
              </a:rPr>
              <a:t>▪  </a:t>
            </a:r>
            <a:r>
              <a:rPr sz="1500" b="1">
                <a:solidFill>
                  <a:srgbClr val="2E6A70"/>
                </a:solidFill>
                <a:latin typeface="Calibri"/>
              </a:rPr>
              <a:t>India-first: </a:t>
            </a:r>
            <a:r>
              <a:rPr sz="1500" b="0">
                <a:solidFill>
                  <a:srgbClr val="17323A"/>
                </a:solidFill>
                <a:latin typeface="Calibri"/>
              </a:rPr>
              <a:t>CTRI-format trials, Indian states/cities, and locally common conditions (T2DM, hypertension, anaemia in pregnancy, asthma…).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E6A70"/>
                </a:solidFill>
                <a:latin typeface="Calibri"/>
              </a:rPr>
              <a:t>Goal: turn hours of manual eligibility reading into seconds - without losing transparency or safety.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840480" cy="3886200"/>
          </a:xfrm>
          <a:prstGeom prst="roundRect">
            <a:avLst/>
          </a:prstGeom>
          <a:solidFill>
            <a:srgbClr val="D7ECE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2E6A70"/>
                </a:solidFill>
                <a:latin typeface="Calibri"/>
              </a:rPr>
              <a:t>What the user sees</a:t>
            </a:r>
            <a:r>
              <a:rPr sz="1200" b="1">
                <a:solidFill>
                  <a:srgbClr val="388087"/>
                </a:solidFill>
                <a:latin typeface="Calibri"/>
              </a:rPr>
              <a:t>•  </a:t>
            </a:r>
            <a:r>
              <a:rPr sz="1200" b="0">
                <a:solidFill>
                  <a:srgbClr val="17323A"/>
                </a:solidFill>
                <a:latin typeface="Calibri"/>
              </a:rPr>
              <a:t>1.  Structured · Unstructured · Hybrid tabs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388087"/>
                </a:solidFill>
                <a:latin typeface="Calibri"/>
              </a:rPr>
              <a:t>•  </a:t>
            </a:r>
            <a:r>
              <a:rPr sz="1200" b="0">
                <a:solidFill>
                  <a:srgbClr val="17323A"/>
                </a:solidFill>
                <a:latin typeface="Calibri"/>
              </a:rPr>
              <a:t>2.  Upload notes - PDF / CSV / Excel / photo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388087"/>
                </a:solidFill>
                <a:latin typeface="Calibri"/>
              </a:rPr>
              <a:t>•  </a:t>
            </a:r>
            <a:r>
              <a:rPr sz="1200" b="0">
                <a:solidFill>
                  <a:srgbClr val="17323A"/>
                </a:solidFill>
                <a:latin typeface="Calibri"/>
              </a:rPr>
              <a:t>3.  ML NER reads the facts; Hindi notes auto-translate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388087"/>
                </a:solidFill>
                <a:latin typeface="Calibri"/>
              </a:rPr>
              <a:t>•  </a:t>
            </a:r>
            <a:r>
              <a:rPr sz="1200" b="0">
                <a:solidFill>
                  <a:srgbClr val="17323A"/>
                </a:solidFill>
                <a:latin typeface="Calibri"/>
              </a:rPr>
              <a:t>4.  Find Trials for one patient or all N patients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388087"/>
                </a:solidFill>
                <a:latin typeface="Calibri"/>
              </a:rPr>
              <a:t>•  </a:t>
            </a:r>
            <a:r>
              <a:rPr sz="1200" b="0">
                <a:solidFill>
                  <a:srgbClr val="17323A"/>
                </a:solidFill>
                <a:latin typeface="Calibri"/>
              </a:rPr>
              <a:t>5.  Verdict cards with reasons + CSV/Excel export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388087"/>
                </a:solidFill>
                <a:latin typeface="Calibri"/>
              </a:rPr>
              <a:t>•  </a:t>
            </a:r>
            <a:r>
              <a:rPr sz="1200" b="0">
                <a:solidFill>
                  <a:srgbClr val="17323A"/>
                </a:solidFill>
                <a:latin typeface="Calibri"/>
              </a:rPr>
              <a:t>6.  Model Evaluation page scores the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Literature Survey  (1/6)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2471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331720"/>
                <a:gridCol w="2057400"/>
                <a:gridCol w="2606040"/>
                <a:gridCol w="1783080"/>
                <a:gridCol w="196596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SL. No.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 Name, Journal Name, Vol., Page, Year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Title of paper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Research Gap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Relevance with the present work / Motivation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</a:tr>
              <a:tr h="4023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17323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AUTHORS:- Long Chen, Yu Gu, Xin Ji, Chao Lou, Zhiyong Sun, Haodan Li, Yuan Gao, Yang Huang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JOURNAL:- Journal of the American Medical Informatics Association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YEAR:- 2019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Clinical Trial Cohort Selection based on Multi-Level Rule-Based Natural Language Processing System.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Hybrid system: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Rule-based: lexical (keywords), syntactic (structure), meta (context: patient vs family history)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General cNLP: UMLS + pre-trained NER (LSTM-CRF)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Rule-based ensures precision; cNLP improves robustness and coverage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Language mismatch between task-specific clinical terms and standardized UMLS terms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Automating trial processing; extracting useful information from EHRs is hard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Directly motivates our design: deterministic rules for precision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CTQ uses sentence embeddings instead of UMLS to close the vocabulary gap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ML NER + rule engine hybrid, exactly as they recommend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Literature Survey  (2/6)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2471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331720"/>
                <a:gridCol w="2057400"/>
                <a:gridCol w="2606040"/>
                <a:gridCol w="1783080"/>
                <a:gridCol w="196596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SL. No.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 Name, Journal Name, Vol., Page, Year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Title of paper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Research Gap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Relevance with the present work / Motivation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</a:tr>
              <a:tr h="4023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17323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AUTHOR:- Chun Yuan, Patrick B. Ryan, et al.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JOURNAL:- Journal of the American Medical Informatics Association, Vol. 26(4), pp. 294-305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YEAR:- 2019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Criteria2Query: a natural language interface to clinical databases for cohort definition.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Translates free-text eligibility criteria into executable OMOP-CDM cohort queries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Human-computer collaboration: NLP drafts, humans refine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Shows free-text criteria can be parsed into structured logic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Generates cohort queries, not patient-level eligibility verdicts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Requires structured OMOP data warehouses, rarely available for Indian patient records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Motivates our rule engine that parses criteria (age bands, lab cut-offs, medications) directly and applies them to a patient profile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Literature Survey  (3/6)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2471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331720"/>
                <a:gridCol w="2057400"/>
                <a:gridCol w="2606040"/>
                <a:gridCol w="1783080"/>
                <a:gridCol w="196596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SL. No.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 Name, Journal Name, Vol., Page, Year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Title of paper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Research Gap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Relevance with the present work / Motivation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</a:tr>
              <a:tr h="4023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1732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AUTHORS:- Yizhao Ni, Stephanie Kennebeck, Judith W. Dexheimer, Constance M. McAneney, Huaxiu Tang, Todd Lingren, Qi Li, Haijun Zhai, Imre Solti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JOURNAL:- Journal of the American Medical Informatics Association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YEAR:- 2014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Automated clinical trial eligibility prescreening: increasing the efficiency of patient identification for clinical trials in the emergency department.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Logical constraint filters on structured data (age, gender) alone reduced workload by 49%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Adding NLP reduced it by 86%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Screening systems become more valuable as they accumulate knowledge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Never tested in a live, real-time clinical environment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Paediatric-only trials (misses adult trials)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Limited EHR fields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Patient-centric matching with transparent justifications (their stated motivation)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CTQ deploys as a live web app for adult profiles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Literature Survey  (4/6)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2471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331720"/>
                <a:gridCol w="2057400"/>
                <a:gridCol w="2606040"/>
                <a:gridCol w="1783080"/>
                <a:gridCol w="196596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SL. No.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 Name, Journal Name, Vol., Page, Year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Title of paper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Research Gap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Relevance with the present work / Motivation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</a:tr>
              <a:tr h="4023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1732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AUTHOR:- Victor M. Murcia, Vinod Aggarwal, et al.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JOURNAL:- Journal of Biomedical Informatics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YEAR:- 2023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Automating Clinical Trial Matches via Natural Language Processing of Synthetic Electronic Health Records and Clinical Trial Eligibility Criteria.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TrialMatcher's SDI scores achieved up to 80% match for certain trials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Stack: ClinicalTrials.gov API, spaCy/CoreNLP, biomedical NER, Sørensen-Dice similarity, Python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Errors with negation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Errors extracting numerical quantities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Synthetic dataset only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Patient-centric matching; practical NLP in healthcare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CTQ's rule engine parses numeric lab cut-offs (HbA1c, eGFR…) and is negation-aware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Literature Survey  (5/6)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2471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331720"/>
                <a:gridCol w="2057400"/>
                <a:gridCol w="2606040"/>
                <a:gridCol w="1783080"/>
                <a:gridCol w="196596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SL. No.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 Name, Journal Name, Vol., Page, Year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Title of paper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Research Gap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Relevance with the present work / Motivation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</a:tr>
              <a:tr h="4023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1732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AUTHORS:- Kunyuan Wang, Hao Cui, Yun Zhu, et al.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JOURNAL:- BMC Cancer, Vol. 24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YEAR:- 2024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Evaluation of an Artificial Intelligence-Based Clinical Trial Matching System in Chinese Patients with Hepatocellular Carcinoma.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AI system (CTMS) checks patient records and finds who qualifies for specific cancer trials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Achieved 92-98% accuracy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Reduced manual screening time from 150 hours to just 2 hours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Still took 2 hours whereas other systems finish in &lt;10 minutes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Divergence between how the AI interpreted data and how human reviewers did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Patient-centric matching; reduces manual workload; demonstrates AI in healthcare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CTQ outputs seconds per patient with itemised, auditable reasons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Literature Survey  (6/6)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2471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331720"/>
                <a:gridCol w="2057400"/>
                <a:gridCol w="2606040"/>
                <a:gridCol w="1783080"/>
                <a:gridCol w="196596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SL. No.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 Name, Journal Name, Vol., Page, Year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Title of paper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Research Gap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Relevance with the present work / Motivation</a:t>
                      </a:r>
                    </a:p>
                  </a:txBody>
                  <a:tcPr marL="54864" marR="54864" marT="45720" marB="45720" anchor="t">
                    <a:solidFill>
                      <a:srgbClr val="388087"/>
                    </a:solidFill>
                  </a:tcPr>
                </a:tc>
              </a:tr>
              <a:tr h="4023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1732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AUTHORS:- Qiao Jin, Zifeng Wang, Charalampos S. Floudas, Jimeng Sun, Zhiyong Lu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JOURNAL:- Nature Communications, Vol. 15, Art. 9074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YEAR:- 2024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Matching patients to clinical trials with large language models (TrialGPT).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Zero-shot LLM framework for patient-to-trial matching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TrialGPT-Retrieval recalls &gt;90% of relevant trials using &lt;6% of candidates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Expert-validated; predicted to cut screening time by ~42%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LLM-only decisions risk hallucinated eligibility</a:t>
                      </a:r>
                    </a:p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Large token/context needs; no deterministic guarantees on safety-critical criteria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100" b="0">
                          <a:solidFill>
                            <a:srgbClr val="17323A"/>
                          </a:solidFill>
                          <a:latin typeface="Calibri"/>
                        </a:rPr>
                        <a:t>• Motivates CTQ's design rule: the deterministic rule engine keeps veto power over any AI component, so no hallucinated eligibility</a:t>
                      </a:r>
                    </a:p>
                  </a:txBody>
                  <a:tcPr marL="54864" marR="54864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PROBLEM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7323A"/>
                </a:solidFill>
                <a:latin typeface="Calibri"/>
              </a:rPr>
              <a:t>Clinical trial patient recruitment is painfully slow and inefficient. Matching a patient to a trial relies on a human reading every eligibility criterion of every trial. This manual approach: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388087"/>
                </a:solidFill>
                <a:latin typeface="Calibri"/>
              </a:rPr>
              <a:t>▪  </a:t>
            </a:r>
            <a:r>
              <a:rPr sz="1500" b="1">
                <a:solidFill>
                  <a:srgbClr val="2E6A70"/>
                </a:solidFill>
                <a:latin typeface="Calibri"/>
              </a:rPr>
              <a:t>Takes too long - </a:t>
            </a:r>
            <a:r>
              <a:rPr sz="1500" b="0">
                <a:solidFill>
                  <a:srgbClr val="17323A"/>
                </a:solidFill>
                <a:latin typeface="Calibri"/>
              </a:rPr>
              <a:t>screening one patient against one trial means reading dozens of free-text criteria; full cohorts take weeks, delaying entire trials.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388087"/>
                </a:solidFill>
                <a:latin typeface="Calibri"/>
              </a:rPr>
              <a:t>▪  </a:t>
            </a:r>
            <a:r>
              <a:rPr sz="1500" b="1">
                <a:solidFill>
                  <a:srgbClr val="2E6A70"/>
                </a:solidFill>
                <a:latin typeface="Calibri"/>
              </a:rPr>
              <a:t>Costs heavily - </a:t>
            </a:r>
            <a:r>
              <a:rPr sz="1500" b="0">
                <a:solidFill>
                  <a:srgbClr val="17323A"/>
                </a:solidFill>
                <a:latin typeface="Calibri"/>
              </a:rPr>
              <a:t>recruitment consumes a large share of trial timelines and administrative labour.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388087"/>
                </a:solidFill>
                <a:latin typeface="Calibri"/>
              </a:rPr>
              <a:t>▪  </a:t>
            </a:r>
            <a:r>
              <a:rPr sz="1500" b="1">
                <a:solidFill>
                  <a:srgbClr val="2E6A70"/>
                </a:solidFill>
                <a:latin typeface="Calibri"/>
              </a:rPr>
              <a:t>Is inconsistent and error-prone - </a:t>
            </a:r>
            <a:r>
              <a:rPr sz="1500" b="0">
                <a:solidFill>
                  <a:srgbClr val="17323A"/>
                </a:solidFill>
                <a:latin typeface="Calibri"/>
              </a:rPr>
              <a:t>humans miss details; criteria buried in unstructured notes are easy to overlook.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388087"/>
                </a:solidFill>
                <a:latin typeface="Calibri"/>
              </a:rPr>
              <a:t>▪  </a:t>
            </a:r>
            <a:r>
              <a:rPr sz="1500" b="1">
                <a:solidFill>
                  <a:srgbClr val="2E6A70"/>
                </a:solidFill>
                <a:latin typeface="Calibri"/>
              </a:rPr>
              <a:t>Faces unstructured data - </a:t>
            </a:r>
            <a:r>
              <a:rPr sz="1500" b="0">
                <a:solidFill>
                  <a:srgbClr val="17323A"/>
                </a:solidFill>
                <a:latin typeface="Calibri"/>
              </a:rPr>
              <a:t>Indian patient records are largely free-text notes, printed prescriptions and scans, not machine-readable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377440"/>
            <a:ext cx="3657600" cy="3291840"/>
          </a:xfrm>
          <a:prstGeom prst="roundRect">
            <a:avLst/>
          </a:prstGeom>
          <a:solidFill>
            <a:srgbClr val="D7ECE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2E6A70"/>
                </a:solidFill>
                <a:latin typeface="Calibri"/>
              </a:rPr>
              <a:t>Research question</a:t>
            </a:r>
            <a:r>
              <a:rPr sz="1400" b="0">
                <a:solidFill>
                  <a:srgbClr val="17323A"/>
                </a:solidFill>
                <a:latin typeface="Calibri"/>
              </a:rPr>
              <a:t>Can an AI system screen a patient against many trials in seconds - with decisions that are safe, explained, and honest about missing data?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6A70"/>
                </a:solidFill>
                <a:latin typeface="Calibri"/>
              </a:rPr>
              <a:t>Success = every verdict traceable to a specific criterion, not a black-box 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POSSIBLE SOLUTION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2E6A70"/>
                </a:solidFill>
                <a:latin typeface="Calibri"/>
              </a:rPr>
              <a:t>Clinical Trial Qualifier (CTQ) — </a:t>
            </a:r>
            <a:r>
              <a:rPr sz="1500" b="0">
                <a:solidFill>
                  <a:srgbClr val="17323A"/>
                </a:solidFill>
                <a:latin typeface="Calibri"/>
              </a:rPr>
              <a:t>an AI-powered clinical trial qualification system that automates patient eligibility screening, with a localized focus on Indian healthcare.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5440680" cy="9692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4008"/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50" b="1">
                <a:solidFill>
                  <a:srgbClr val="388087"/>
                </a:solidFill>
                <a:latin typeface="Calibri"/>
              </a:rPr>
              <a:t>1  </a:t>
            </a:r>
            <a:r>
              <a:rPr sz="1350" b="1">
                <a:solidFill>
                  <a:srgbClr val="2E6A70"/>
                </a:solidFill>
                <a:latin typeface="Calibri"/>
              </a:rPr>
              <a:t>Understand the patient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17323A"/>
                </a:solidFill>
                <a:latin typeface="Calibri"/>
              </a:rPr>
              <a:t>Structured form (60+ fields), structured CSV, unstructured notes (PDF / photo-OCR / CSV / Excel) or BOTH merged (Hybrid tab); Hindi notes auto-translate to English first; DistilBERT ML NER extracts the facts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514600"/>
            <a:ext cx="5440680" cy="969264"/>
          </a:xfrm>
          <a:prstGeom prst="roundRect">
            <a:avLst/>
          </a:prstGeom>
          <a:solidFill>
            <a:srgbClr val="BADFE7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4008"/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50" b="1">
                <a:solidFill>
                  <a:srgbClr val="388087"/>
                </a:solidFill>
                <a:latin typeface="Calibri"/>
              </a:rPr>
              <a:t>2  </a:t>
            </a:r>
            <a:r>
              <a:rPr sz="1350" b="1">
                <a:solidFill>
                  <a:srgbClr val="2E6A70"/>
                </a:solidFill>
                <a:latin typeface="Calibri"/>
              </a:rPr>
              <a:t>Find relevant trials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17323A"/>
                </a:solidFill>
                <a:latin typeface="Calibri"/>
              </a:rPr>
              <a:t>Semantic search over 32 CTRI/NCT-format trials using sentence embeddings (all-MiniLM-L6-v2)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5440680" cy="9692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4008"/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50" b="1">
                <a:solidFill>
                  <a:srgbClr val="388087"/>
                </a:solidFill>
                <a:latin typeface="Calibri"/>
              </a:rPr>
              <a:t>3  </a:t>
            </a:r>
            <a:r>
              <a:rPr sz="1350" b="1">
                <a:solidFill>
                  <a:srgbClr val="2E6A70"/>
                </a:solidFill>
                <a:latin typeface="Calibri"/>
              </a:rPr>
              <a:t>Apply every rule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17323A"/>
                </a:solidFill>
                <a:latin typeface="Calibri"/>
              </a:rPr>
              <a:t>Deterministic rule engine checks age, gender, lab cut-offs, medications, comorbidities - criterion by criterion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630168"/>
            <a:ext cx="5440680" cy="969264"/>
          </a:xfrm>
          <a:prstGeom prst="roundRect">
            <a:avLst/>
          </a:prstGeom>
          <a:solidFill>
            <a:srgbClr val="BADFE7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4008"/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50" b="1">
                <a:solidFill>
                  <a:srgbClr val="388087"/>
                </a:solidFill>
                <a:latin typeface="Calibri"/>
              </a:rPr>
              <a:t>4  </a:t>
            </a:r>
            <a:r>
              <a:rPr sz="1350" b="1">
                <a:solidFill>
                  <a:srgbClr val="2E6A70"/>
                </a:solidFill>
                <a:latin typeface="Calibri"/>
              </a:rPr>
              <a:t>Explain the decision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17323A"/>
                </a:solidFill>
                <a:latin typeface="Calibri"/>
              </a:rPr>
              <a:t>Itemised pass / fail / missing reasons quoting the trial's own criteria; three honest verdicts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745736"/>
            <a:ext cx="5440680" cy="9692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4008"/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50" b="1">
                <a:solidFill>
                  <a:srgbClr val="388087"/>
                </a:solidFill>
                <a:latin typeface="Calibri"/>
              </a:rPr>
              <a:t>5  </a:t>
            </a:r>
            <a:r>
              <a:rPr sz="1350" b="1">
                <a:solidFill>
                  <a:srgbClr val="2E6A70"/>
                </a:solidFill>
                <a:latin typeface="Calibri"/>
              </a:rPr>
              <a:t>Measure itself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17323A"/>
                </a:solidFill>
                <a:latin typeface="Calibri"/>
              </a:rPr>
              <a:t>One-click Model Evaluation: bundled sample patients + labels → accuracy, precision, recall, F1, confusion matrix - against ALL trials or only each patient's top-K best matches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745736"/>
            <a:ext cx="5440680" cy="969264"/>
          </a:xfrm>
          <a:prstGeom prst="roundRect">
            <a:avLst/>
          </a:prstGeom>
          <a:solidFill>
            <a:srgbClr val="C2EDCE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82296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E6A70"/>
                </a:solidFill>
                <a:latin typeface="Calibri"/>
              </a:rPr>
              <a:t>Verdicts:  </a:t>
            </a:r>
            <a:r>
              <a:rPr sz="1250" b="1">
                <a:solidFill>
                  <a:srgbClr val="388087"/>
                </a:solidFill>
                <a:latin typeface="Calibri"/>
              </a:rPr>
              <a:t>Potentially Eligible</a:t>
            </a:r>
            <a:r>
              <a:rPr sz="1250" b="0">
                <a:solidFill>
                  <a:srgbClr val="5E6D70"/>
                </a:solidFill>
                <a:latin typeface="Calibri"/>
              </a:rPr>
              <a:t>  ·  </a:t>
            </a:r>
            <a:r>
              <a:rPr sz="1250" b="1">
                <a:solidFill>
                  <a:srgbClr val="A33A3A"/>
                </a:solidFill>
                <a:latin typeface="Calibri"/>
              </a:rPr>
              <a:t>Not Eligible</a:t>
            </a:r>
            <a:r>
              <a:rPr sz="1250" b="0">
                <a:solidFill>
                  <a:srgbClr val="5E6D70"/>
                </a:solidFill>
                <a:latin typeface="Calibri"/>
              </a:rPr>
              <a:t>  ·  </a:t>
            </a:r>
            <a:r>
              <a:rPr sz="1250" b="1">
                <a:solidFill>
                  <a:srgbClr val="B8860B"/>
                </a:solidFill>
                <a:latin typeface="Calibri"/>
              </a:rPr>
              <a:t>Insufficient Information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E6D70"/>
                </a:solidFill>
                <a:latin typeface="Calibri"/>
              </a:rPr>
              <a:t>ML extracts · rules decide · missing data is surfaced, never guessed.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TOOLS &amp; TECHNOLOGIES USED  (1/2)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388087"/>
                </a:solidFill>
                <a:latin typeface="Calibri"/>
              </a:rPr>
              <a:t>▪  </a:t>
            </a:r>
            <a:r>
              <a:rPr sz="1450" b="1">
                <a:solidFill>
                  <a:srgbClr val="2E6A70"/>
                </a:solidFill>
                <a:latin typeface="Calibri"/>
              </a:rPr>
              <a:t>DistilBERT extractive-QA (distilbert-base-cased-distilled-squad) - </a:t>
            </a:r>
            <a:r>
              <a:rPr sz="1450" b="0">
                <a:solidFill>
                  <a:srgbClr val="17323A"/>
                </a:solidFill>
                <a:latin typeface="Calibri"/>
              </a:rPr>
              <a:t>the ML NER engine: asks the model targeted clinical questions per note (“What is the patient's HbA1c level?”), then maps span answers into profile fields. ML-only extraction - no regex discovery; negation guards reject spans like “No history of liver disease” as a diagnosis. Non-English notes (Hindi + 12 more scripts) are auto-translated to English first.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388087"/>
                </a:solidFill>
                <a:latin typeface="Calibri"/>
              </a:rPr>
              <a:t>▪  </a:t>
            </a:r>
            <a:r>
              <a:rPr sz="1450" b="1">
                <a:solidFill>
                  <a:srgbClr val="2E6A70"/>
                </a:solidFill>
                <a:latin typeface="Calibri"/>
              </a:rPr>
              <a:t>Groq LLM (openai/gpt-oss-120b) - </a:t>
            </a:r>
            <a:r>
              <a:rPr sz="1450" b="0">
                <a:solidFill>
                  <a:srgbClr val="17323A"/>
                </a:solidFill>
                <a:latin typeface="Calibri"/>
              </a:rPr>
              <a:t>two jobs: a low-effort multilingual translator (Hindi/Indic notes → English before extraction) and an adversarial second opinion on eligibility - behind a rate-limit circuit breaker with rule-engine fallback.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388087"/>
                </a:solidFill>
                <a:latin typeface="Calibri"/>
              </a:rPr>
              <a:t>▪  </a:t>
            </a:r>
            <a:r>
              <a:rPr sz="1450" b="1">
                <a:solidFill>
                  <a:srgbClr val="2E6A70"/>
                </a:solidFill>
                <a:latin typeface="Calibri"/>
              </a:rPr>
              <a:t>RapidOCR (ONNX) - </a:t>
            </a:r>
            <a:r>
              <a:rPr sz="1450" b="0">
                <a:solidFill>
                  <a:srgbClr val="17323A"/>
                </a:solidFill>
                <a:latin typeface="Calibri"/>
              </a:rPr>
              <a:t>reads photos/scans of prescriptions and summaries; PyMuPDF rasterises scanned PDF pages so the same OCR can read them.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388087"/>
                </a:solidFill>
                <a:latin typeface="Calibri"/>
              </a:rPr>
              <a:t>▪  </a:t>
            </a:r>
            <a:r>
              <a:rPr sz="1450" b="1">
                <a:solidFill>
                  <a:srgbClr val="2E6A70"/>
                </a:solidFill>
                <a:latin typeface="Calibri"/>
              </a:rPr>
              <a:t>Custom Rule Engine - </a:t>
            </a:r>
            <a:r>
              <a:rPr sz="1450" b="0">
                <a:solidFill>
                  <a:srgbClr val="17323A"/>
                </a:solidFill>
                <a:latin typeface="Calibri"/>
              </a:rPr>
              <a:t>parses every eligibility criterion (age bands, gender, lab cut-offs such as HbA1c 7.5-10.5 / eGFR ≥ 45, medication requirements, comorbidity exclusions, pregnancy, smoking) and issues Pass / Fail / Missing per criterion; any hard exclusion vetoes the match; missing INCLUSION-side facts produce “Insufficient Information”, missing EXCLUSION-side facts stay “Potentially Eligible” with gaps listed.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388087"/>
                </a:solidFill>
                <a:latin typeface="Calibri"/>
              </a:rPr>
              <a:t>▪  </a:t>
            </a:r>
            <a:r>
              <a:rPr sz="1450" b="1">
                <a:solidFill>
                  <a:srgbClr val="2E6A70"/>
                </a:solidFill>
                <a:latin typeface="Calibri"/>
              </a:rPr>
              <a:t>sentence-transformers (all-MiniLM-L6-v2) - </a:t>
            </a:r>
            <a:r>
              <a:rPr sz="1450" b="0">
                <a:solidFill>
                  <a:srgbClr val="17323A"/>
                </a:solidFill>
                <a:latin typeface="Calibri"/>
              </a:rPr>
              <a:t>encodes the patient profile and every trial's criteria into 384-dimension vectors locally; cosine similarity ranks all 32 trials (semantic matching, no internet or GPU needed).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>
                <a:solidFill>
                  <a:srgbClr val="388087"/>
                </a:solidFill>
                <a:latin typeface="Calibri"/>
              </a:rPr>
              <a:t>▪  </a:t>
            </a:r>
            <a:r>
              <a:rPr sz="1450" b="1">
                <a:solidFill>
                  <a:srgbClr val="2E6A70"/>
                </a:solidFill>
                <a:latin typeface="Calibri"/>
              </a:rPr>
              <a:t>Pandas, openpyxl, pypdf - </a:t>
            </a:r>
            <a:r>
              <a:rPr sz="1450" b="0">
                <a:solidFill>
                  <a:srgbClr val="17323A"/>
                </a:solidFill>
                <a:latin typeface="Calibri"/>
              </a:rPr>
              <a:t>parse uploaded CSV / Excel / PDF notes with column aliasing (notes / clinical_notes / summary…); build the Excel cohort export and CSV result downloads.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TOOLS &amp; TECHNOLOGIES USED  (2/2)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388087"/>
                </a:solidFill>
                <a:latin typeface="Calibri"/>
              </a:rPr>
              <a:t>▪  </a:t>
            </a:r>
            <a:r>
              <a:rPr sz="1450" b="1">
                <a:solidFill>
                  <a:srgbClr val="2E6A70"/>
                </a:solidFill>
                <a:latin typeface="Calibri"/>
              </a:rPr>
              <a:t>React 18 + Vite - </a:t>
            </a:r>
            <a:r>
              <a:rPr sz="1450" b="0">
                <a:solidFill>
                  <a:srgbClr val="17323A"/>
                </a:solidFill>
                <a:latin typeface="Calibri"/>
              </a:rPr>
              <a:t>single-page frontend: Home, Find Trials (Structured / Unstructured / Hybrid tabs, cohort mode), Model Evaluation (with top-K ranking scope); client-side routing with react-router; production build served by the API server.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388087"/>
                </a:solidFill>
                <a:latin typeface="Calibri"/>
              </a:rPr>
              <a:t>▪  </a:t>
            </a:r>
            <a:r>
              <a:rPr sz="1450" b="1">
                <a:solidFill>
                  <a:srgbClr val="2E6A70"/>
                </a:solidFill>
                <a:latin typeface="Calibri"/>
              </a:rPr>
              <a:t>axios - </a:t>
            </a:r>
            <a:r>
              <a:rPr sz="1450" b="0">
                <a:solidFill>
                  <a:srgbClr val="17323A"/>
                </a:solidFill>
                <a:latin typeface="Calibri"/>
              </a:rPr>
              <a:t>API client with friendly error mapping; builds the structured profile payload from the form and downloads CSV/Excel blobs.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388087"/>
                </a:solidFill>
                <a:latin typeface="Calibri"/>
              </a:rPr>
              <a:t>▪  </a:t>
            </a:r>
            <a:r>
              <a:rPr sz="1450" b="1">
                <a:solidFill>
                  <a:srgbClr val="2E6A70"/>
                </a:solidFill>
                <a:latin typeface="Calibri"/>
              </a:rPr>
              <a:t>FastAPI + Uvicorn - </a:t>
            </a:r>
            <a:r>
              <a:rPr sz="1450" b="0">
                <a:solidFill>
                  <a:srgbClr val="17323A"/>
                </a:solidFill>
                <a:latin typeface="Calibri"/>
              </a:rPr>
              <a:t>REST API: /patient/analyze, /patient/analyze-batch (evaluation), /extract/document, /cohort/analyze, /cohort/export, /evaluation/sample-data; one origin serves app + API (no CORS issues).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388087"/>
                </a:solidFill>
                <a:latin typeface="Calibri"/>
              </a:rPr>
              <a:t>▪  </a:t>
            </a:r>
            <a:r>
              <a:rPr sz="1450" b="1">
                <a:solidFill>
                  <a:srgbClr val="2E6A70"/>
                </a:solidFill>
                <a:latin typeface="Calibri"/>
              </a:rPr>
              <a:t>Pydantic - </a:t>
            </a:r>
            <a:r>
              <a:rPr sz="1450" b="0">
                <a:solidFill>
                  <a:srgbClr val="17323A"/>
                </a:solidFill>
                <a:latin typeface="Calibri"/>
              </a:rPr>
              <a:t>request/response validation and schemas; rejects impossible values before any AI runs (age ≤ 0, impossible lab values).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388087"/>
                </a:solidFill>
                <a:latin typeface="Calibri"/>
              </a:rPr>
              <a:t>▪  </a:t>
            </a:r>
            <a:r>
              <a:rPr sz="1450" b="1">
                <a:solidFill>
                  <a:srgbClr val="2E6A70"/>
                </a:solidFill>
                <a:latin typeface="Calibri"/>
              </a:rPr>
              <a:t>SQLite - </a:t>
            </a:r>
            <a:r>
              <a:rPr sz="1450" b="0">
                <a:solidFill>
                  <a:srgbClr val="17323A"/>
                </a:solidFill>
                <a:latin typeface="Calibri"/>
              </a:rPr>
              <a:t>stores evaluation runs; trials.json (32 CTRI/NCT-format trials, 200+ criteria) is loaded at startup; TOP_K_TRIALS=0 checks every trial.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>
                <a:solidFill>
                  <a:srgbClr val="388087"/>
                </a:solidFill>
                <a:latin typeface="Calibri"/>
              </a:rPr>
              <a:t>▪  </a:t>
            </a:r>
            <a:r>
              <a:rPr sz="1450" b="1">
                <a:solidFill>
                  <a:srgbClr val="2E6A70"/>
                </a:solidFill>
                <a:latin typeface="Calibri"/>
              </a:rPr>
              <a:t>Playwright + matplotlib - </a:t>
            </a:r>
            <a:r>
              <a:rPr sz="1450" b="0">
                <a:solidFill>
                  <a:srgbClr val="17323A"/>
                </a:solidFill>
                <a:latin typeface="Calibri"/>
              </a:rPr>
              <a:t>automated end-to-end UI runs that produced the live screenshots in this deck; matplotlib draws the confusion matrix.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METHODOLOGY &amp; WORKFLOW  —  How everything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783080"/>
            <a:ext cx="8641080" cy="4860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172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Patient input (form / notes / PDF / photo) → DistilBERT ML NER → semantic retrieval → rule engine (veto) → verdict + explanation → downloads / evaluation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METHODOLOGY  —  Pipeline stages with a worked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4406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2E6A70"/>
                </a:solidFill>
                <a:latin typeface="Calibri"/>
              </a:rPr>
              <a:t>Stage 1-2 · Input &amp; DistilBERT ML NER</a:t>
            </a:r>
            <a:r>
              <a:rPr sz="1050" b="1">
                <a:solidFill>
                  <a:srgbClr val="388087"/>
                </a:solidFill>
                <a:latin typeface="Calibri"/>
              </a:rPr>
              <a:t>•  </a:t>
            </a:r>
            <a:r>
              <a:rPr sz="1050" b="0">
                <a:solidFill>
                  <a:srgbClr val="17323A"/>
                </a:solidFill>
                <a:latin typeface="Calibri"/>
              </a:rPr>
              <a:t>“48-year-old male with Type 2 Diabetes Mellitus diagnosed 4 years ago… HbA1c 8.5 percent, eGFR 80, ALT 25 U/L. No history of liver disease.”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388087"/>
                </a:solidFill>
                <a:latin typeface="Calibri"/>
              </a:rPr>
              <a:t>•  </a:t>
            </a:r>
            <a:r>
              <a:rPr sz="1050" b="0">
                <a:solidFill>
                  <a:srgbClr val="17323A"/>
                </a:solidFill>
                <a:latin typeface="Calibri"/>
              </a:rPr>
              <a:t>A Hindi note (“उम्र 48 वर्ष… मेटफ़ॉर्मिन 500 मिग्रा…”) is auto-translated to English first → the same facts come out (age 48, Metformin, HbA1c 8.5…).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388087"/>
                </a:solidFill>
                <a:latin typeface="Calibri"/>
              </a:rPr>
              <a:t>•  </a:t>
            </a:r>
            <a:r>
              <a:rPr sz="1050" b="0">
                <a:solidFill>
                  <a:srgbClr val="17323A"/>
                </a:solidFill>
                <a:latin typeface="Calibri"/>
              </a:rPr>
              <a:t>The QA model answers one question per field → age 48, condition T2DM, duration 48 mo, HbA1c 8.5, eGFR 80, ALT 25; “No history of…” is negation-guarded.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440680" cy="2103120"/>
          </a:xfrm>
          <a:prstGeom prst="roundRect">
            <a:avLst/>
          </a:prstGeom>
          <a:solidFill>
            <a:srgbClr val="BADFE7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2E6A70"/>
                </a:solidFill>
                <a:latin typeface="Calibri"/>
              </a:rPr>
              <a:t>Stage 3 · Semantic Retrieval</a:t>
            </a:r>
            <a:r>
              <a:rPr sz="1050" b="1">
                <a:solidFill>
                  <a:srgbClr val="388087"/>
                </a:solidFill>
                <a:latin typeface="Calibri"/>
              </a:rPr>
              <a:t>•  </a:t>
            </a:r>
            <a:r>
              <a:rPr sz="1050" b="0">
                <a:solidFill>
                  <a:srgbClr val="17323A"/>
                </a:solidFill>
                <a:latin typeface="Calibri"/>
              </a:rPr>
              <a:t>all-MiniLM-L6-v2 embeds profile and all 32 trials; cosine similarity ranks them (top match 87% for the T2DM add-on trial).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388087"/>
                </a:solidFill>
                <a:latin typeface="Calibri"/>
              </a:rPr>
              <a:t>•  </a:t>
            </a:r>
            <a:r>
              <a:rPr sz="1050" b="0">
                <a:solidFill>
                  <a:srgbClr val="17323A"/>
                </a:solidFill>
                <a:latin typeface="Calibri"/>
              </a:rPr>
              <a:t>TOP_K_TRIALS=0: every trial is checked - ranking only sets the display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69080"/>
            <a:ext cx="5440680" cy="2103120"/>
          </a:xfrm>
          <a:prstGeom prst="roundRect">
            <a:avLst/>
          </a:prstGeom>
          <a:solidFill>
            <a:srgbClr val="C2EDCE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2E6A70"/>
                </a:solidFill>
                <a:latin typeface="Calibri"/>
              </a:rPr>
              <a:t>Stage 4 · Deterministic Rule Engine</a:t>
            </a:r>
            <a:r>
              <a:rPr sz="1050" b="1">
                <a:solidFill>
                  <a:srgbClr val="388087"/>
                </a:solidFill>
                <a:latin typeface="Calibri"/>
              </a:rPr>
              <a:t>•  </a:t>
            </a:r>
            <a:r>
              <a:rPr sz="1050" b="0">
                <a:solidFill>
                  <a:srgbClr val="17323A"/>
                </a:solidFill>
                <a:latin typeface="Calibri"/>
              </a:rPr>
              <a:t>Example verdicts: “HbA1c 8.5 satisfies ‘HbA1c between 7.5 and 10.5’”; “BMI 28.4 does not satisfy ‘BMI between 30 and 45’”.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388087"/>
                </a:solidFill>
                <a:latin typeface="Calibri"/>
              </a:rPr>
              <a:t>•  </a:t>
            </a:r>
            <a:r>
              <a:rPr sz="1050" b="0">
                <a:solidFill>
                  <a:srgbClr val="17323A"/>
                </a:solidFill>
                <a:latin typeface="Calibri"/>
              </a:rPr>
              <a:t>Hard exclusion → Not Eligible; missing inclusion fact → Insufficient Information; missing exclusion-side fact → stays Potentially Eligible.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069080"/>
            <a:ext cx="54406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2E6A70"/>
                </a:solidFill>
                <a:latin typeface="Calibri"/>
              </a:rPr>
              <a:t>Stage 5 · Verdict, Explanation &amp; Outputs</a:t>
            </a:r>
            <a:r>
              <a:rPr sz="1050" b="1">
                <a:solidFill>
                  <a:srgbClr val="388087"/>
                </a:solidFill>
                <a:latin typeface="Calibri"/>
              </a:rPr>
              <a:t>•  </a:t>
            </a:r>
            <a:r>
              <a:rPr sz="1050" b="0">
                <a:solidFill>
                  <a:srgbClr val="17323A"/>
                </a:solidFill>
                <a:latin typeface="Calibri"/>
              </a:rPr>
              <a:t>Verdict cards quote the trial's own criteria; CSV result download, Excel cohort export, PDF report.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388087"/>
                </a:solidFill>
                <a:latin typeface="Calibri"/>
              </a:rPr>
              <a:t>•  </a:t>
            </a:r>
            <a:r>
              <a:rPr sz="1050" b="0">
                <a:solidFill>
                  <a:srgbClr val="17323A"/>
                </a:solidFill>
                <a:latin typeface="Calibri"/>
              </a:rPr>
              <a:t>Model Evaluation runs the same pipeline over labelled pairs and scores itself (next slide).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OUTPUT  (1/2)  —  Live demo: matching &amp; cohort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matcher_t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806440" cy="39400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224528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5E6D70"/>
                </a:solidFill>
                <a:latin typeface="Calibri"/>
              </a:rPr>
              <a:t>Fig:  Find Trials - Structured / Unstructured / Hybrid tabs, cohort controls, one-click samples</a:t>
            </a:r>
          </a:p>
        </p:txBody>
      </p:sp>
      <p:pic>
        <p:nvPicPr>
          <p:cNvPr id="9" name="Picture 8" descr="05_results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91640"/>
            <a:ext cx="5806440" cy="39400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89320" y="4224528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5E6D70"/>
                </a:solidFill>
                <a:latin typeface="Calibri"/>
              </a:rPr>
              <a:t>Fig:  Results - all 32 trials checked, ranked, colour-coded verdicts</a:t>
            </a:r>
          </a:p>
        </p:txBody>
      </p:sp>
      <p:pic>
        <p:nvPicPr>
          <p:cNvPr id="11" name="Picture 10" descr="04_hybrid_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892040"/>
            <a:ext cx="5806440" cy="3940084"/>
          </a:xfrm>
          <a:prstGeom prst="rect">
            <a:avLst/>
          </a:prstGeom>
        </p:spPr>
      </p:pic>
      <p:pic>
        <p:nvPicPr>
          <p:cNvPr id="12" name="Picture 11" descr="08_unstructured_extra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4892040"/>
            <a:ext cx="5806440" cy="39400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6400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150" b="0">
                <a:solidFill>
                  <a:srgbClr val="2E6A70"/>
                </a:solidFill>
                <a:latin typeface="Calibri"/>
              </a:rPr>
              <a:t>Bottom: Hybrid tab (structured CSV + notes merged per patient) and a Hindi clinical note auto-translated to English, then extracted by the ML NER.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OUTPUT  (2/2)  —  Live demo: evaluation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_evaluation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806440" cy="39400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224528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5E6D70"/>
                </a:solidFill>
                <a:latin typeface="Calibri"/>
              </a:rPr>
              <a:t>Fig:  Model Evaluation - one-click bundled sample + ranking scope (All / Top 3 / Top 5 / Top 10)</a:t>
            </a:r>
          </a:p>
        </p:txBody>
      </p:sp>
      <p:pic>
        <p:nvPicPr>
          <p:cNvPr id="9" name="Picture 8" descr="11_evaluation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91640"/>
            <a:ext cx="5806440" cy="39400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89320" y="4224528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5E6D70"/>
                </a:solidFill>
                <a:latin typeface="Calibri"/>
              </a:rPr>
              <a:t>Fig:  Live top-5 run - pairs outside a patient's top-5 matches are skipped and counted</a:t>
            </a:r>
          </a:p>
        </p:txBody>
      </p:sp>
      <p:pic>
        <p:nvPicPr>
          <p:cNvPr id="11" name="Picture 10" descr="12_evaluation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892040"/>
            <a:ext cx="11247120" cy="76319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400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150" b="0">
                <a:solidFill>
                  <a:srgbClr val="2E6A70"/>
                </a:solidFill>
                <a:latin typeface="Calibri"/>
              </a:rPr>
              <a:t>Bottom: per-pair predictions vs labels - every row ✓; downloadable as CSV. ML extraction details (facts per patient) are expandable above the 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691640"/>
            <a:ext cx="7863840" cy="32200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2578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388087"/>
                </a:solidFill>
                <a:latin typeface="Calibri"/>
              </a:rPr>
              <a:t>▪  </a:t>
            </a:r>
            <a:r>
              <a:rPr sz="1400" b="1">
                <a:solidFill>
                  <a:srgbClr val="2E6A70"/>
                </a:solidFill>
                <a:latin typeface="Calibri"/>
              </a:rPr>
              <a:t>Live evaluation run (this build): </a:t>
            </a:r>
            <a:r>
              <a:rPr sz="1400" b="0">
                <a:solidFill>
                  <a:srgbClr val="17323A"/>
                </a:solidFill>
                <a:latin typeface="Calibri"/>
              </a:rPr>
              <a:t>10 synthetic patients, 21 labelled patient-trial pairs → Accuracy 100%, Precision 100%, Recall 100%, F1 100% (TP 11 · FP 0 · FN 0 · TN 10; 0 pairs excluded as insufficient).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388087"/>
                </a:solidFill>
                <a:latin typeface="Calibri"/>
              </a:rPr>
              <a:t>▪  </a:t>
            </a:r>
            <a:r>
              <a:rPr sz="1400" b="1">
                <a:solidFill>
                  <a:srgbClr val="2E6A70"/>
                </a:solidFill>
                <a:latin typeface="Calibri"/>
              </a:rPr>
              <a:t>Top-5 ranked scope: </a:t>
            </a:r>
            <a:r>
              <a:rPr sz="1400" b="0">
                <a:solidFill>
                  <a:srgbClr val="17323A"/>
                </a:solidFill>
                <a:latin typeface="Calibri"/>
              </a:rPr>
              <a:t>scoring only each patient's 5 best-matching trials (the way a coordinator reads the list) keeps accuracy at 100% - 13 pairs scored, 8 reported as outside the ranked scope.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388087"/>
                </a:solidFill>
                <a:latin typeface="Calibri"/>
              </a:rPr>
              <a:t>▪  </a:t>
            </a:r>
            <a:r>
              <a:rPr sz="1400" b="1">
                <a:solidFill>
                  <a:srgbClr val="2E6A70"/>
                </a:solidFill>
                <a:latin typeface="Calibri"/>
              </a:rPr>
              <a:t>Multilingual extraction: </a:t>
            </a:r>
            <a:r>
              <a:rPr sz="1400" b="0">
                <a:solidFill>
                  <a:srgbClr val="17323A"/>
                </a:solidFill>
                <a:latin typeface="Calibri"/>
              </a:rPr>
              <a:t>a fully Hindi discharge note auto-translates to English and yields the same complete profile (age, gender, condition, Metformin, HbA1c 8.5, eGFR 80, BP 140/85) - previously only Latin-anchored lab values survived.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388087"/>
                </a:solidFill>
                <a:latin typeface="Calibri"/>
              </a:rPr>
              <a:t>▪  </a:t>
            </a:r>
            <a:r>
              <a:rPr sz="1400" b="1">
                <a:solidFill>
                  <a:srgbClr val="2E6A70"/>
                </a:solidFill>
                <a:latin typeface="Calibri"/>
              </a:rPr>
              <a:t>Honest by design: </a:t>
            </a:r>
            <a:r>
              <a:rPr sz="1400" b="0">
                <a:solidFill>
                  <a:srgbClr val="17323A"/>
                </a:solidFill>
                <a:latin typeface="Calibri"/>
              </a:rPr>
              <a:t>notes that genuinely lack a fact degrade to “Insufficient Information” instead of a guess - such rows are reported separately, never counted as a class.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388087"/>
                </a:solidFill>
                <a:latin typeface="Calibri"/>
              </a:rPr>
              <a:t>▪  </a:t>
            </a:r>
            <a:r>
              <a:rPr sz="1400" b="1">
                <a:solidFill>
                  <a:srgbClr val="2E6A70"/>
                </a:solidFill>
                <a:latin typeface="Calibri"/>
              </a:rPr>
              <a:t>Same pipeline everywhere: </a:t>
            </a:r>
            <a:r>
              <a:rPr sz="1400" b="0">
                <a:solidFill>
                  <a:srgbClr val="17323A"/>
                </a:solidFill>
                <a:latin typeface="Calibri"/>
              </a:rPr>
              <a:t>single matching, cohort screening and evaluation share one code path, so the score reflects what users actually get.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44068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82296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388087"/>
                </a:solidFill>
                <a:latin typeface="Calibri"/>
              </a:rPr>
              <a:t>1.  </a:t>
            </a:r>
            <a:r>
              <a:rPr sz="1350" b="1">
                <a:solidFill>
                  <a:srgbClr val="2E6A70"/>
                </a:solidFill>
                <a:latin typeface="Calibri"/>
              </a:rPr>
              <a:t>Domain-specific NER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17323A"/>
                </a:solidFill>
                <a:latin typeface="Calibri"/>
              </a:rPr>
              <a:t>Swap DistilBERT-QA for BioBERT / PubMedBERT fine-tuned on CTRI criteria for higher recall on rare entities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440680" cy="1234440"/>
          </a:xfrm>
          <a:prstGeom prst="roundRect">
            <a:avLst/>
          </a:prstGeom>
          <a:solidFill>
            <a:srgbClr val="D7ECE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82296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388087"/>
                </a:solidFill>
                <a:latin typeface="Calibri"/>
              </a:rPr>
              <a:t>2.  </a:t>
            </a:r>
            <a:r>
              <a:rPr sz="1350" b="1">
                <a:solidFill>
                  <a:srgbClr val="2E6A70"/>
                </a:solidFill>
                <a:latin typeface="Calibri"/>
              </a:rPr>
              <a:t>Dose-threshold parsing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17323A"/>
                </a:solidFill>
                <a:latin typeface="Calibri"/>
              </a:rPr>
              <a:t>Handle criteria like “metformin ≥ 1500 mg/day” in the rule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46120"/>
            <a:ext cx="544068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82296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388087"/>
                </a:solidFill>
                <a:latin typeface="Calibri"/>
              </a:rPr>
              <a:t>3.  </a:t>
            </a:r>
            <a:r>
              <a:rPr sz="1350" b="1">
                <a:solidFill>
                  <a:srgbClr val="2E6A70"/>
                </a:solidFill>
                <a:latin typeface="Calibri"/>
              </a:rPr>
              <a:t>Live trial ingestion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17323A"/>
                </a:solidFill>
                <a:latin typeface="Calibri"/>
              </a:rPr>
              <a:t>Pull real trials from the CTRI / ClinicalTrials.gov APIs instead of the bundled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46120"/>
            <a:ext cx="5440680" cy="1234440"/>
          </a:xfrm>
          <a:prstGeom prst="roundRect">
            <a:avLst/>
          </a:prstGeom>
          <a:solidFill>
            <a:srgbClr val="D7ECE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82296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388087"/>
                </a:solidFill>
                <a:latin typeface="Calibri"/>
              </a:rPr>
              <a:t>4.  </a:t>
            </a:r>
            <a:r>
              <a:rPr sz="1350" b="1">
                <a:solidFill>
                  <a:srgbClr val="2E6A70"/>
                </a:solidFill>
                <a:latin typeface="Calibri"/>
              </a:rPr>
              <a:t>Cohort analytics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17323A"/>
                </a:solidFill>
                <a:latin typeface="Calibri"/>
              </a:rPr>
              <a:t>Per-site recruitment funnels and auto-screening schedules for coordinators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663440"/>
            <a:ext cx="544068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82296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388087"/>
                </a:solidFill>
                <a:latin typeface="Calibri"/>
              </a:rPr>
              <a:t>5.  </a:t>
            </a:r>
            <a:r>
              <a:rPr sz="1350" b="1">
                <a:solidFill>
                  <a:srgbClr val="2E6A70"/>
                </a:solidFill>
                <a:latin typeface="Calibri"/>
              </a:rPr>
              <a:t>Doctor feedback loop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17323A"/>
                </a:solidFill>
                <a:latin typeface="Calibri"/>
              </a:rPr>
              <a:t>Human-in-the-loop corrections that feed back into rules and the evaluation 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663440"/>
            <a:ext cx="5440680" cy="1234440"/>
          </a:xfrm>
          <a:prstGeom prst="roundRect">
            <a:avLst/>
          </a:prstGeom>
          <a:solidFill>
            <a:srgbClr val="D7ECE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82296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388087"/>
                </a:solidFill>
                <a:latin typeface="Calibri"/>
              </a:rPr>
              <a:t>6.  </a:t>
            </a:r>
            <a:r>
              <a:rPr sz="1350" b="1">
                <a:solidFill>
                  <a:srgbClr val="2E6A70"/>
                </a:solidFill>
                <a:latin typeface="Calibri"/>
              </a:rPr>
              <a:t>More languages + voice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17323A"/>
                </a:solidFill>
                <a:latin typeface="Calibri"/>
              </a:rPr>
              <a:t>Hindi ships today (13 scripts detected); add regional speech-to-text and ICD / LOINC coding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Department of AI&amp;DS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E6D70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E6D70"/>
                </a:solidFill>
                <a:latin typeface="Calibri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6A70"/>
                </a:solidFill>
                <a:latin typeface="Calibri"/>
              </a:rPr>
              <a:t>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27048"/>
            <a:ext cx="1371600" cy="54864"/>
          </a:xfrm>
          <a:prstGeom prst="round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388087"/>
                </a:solidFill>
                <a:latin typeface="Calibri"/>
              </a:rPr>
              <a:t>•  </a:t>
            </a:r>
            <a:r>
              <a:rPr sz="1250" b="0">
                <a:solidFill>
                  <a:srgbClr val="17323A"/>
                </a:solidFill>
                <a:latin typeface="Calibri"/>
              </a:rPr>
              <a:t>Chen, L., Gu, Y., Ji, X., et al. “Clinical Trial Cohort Selection based on Multi-Level Rule-based Natural Language Processing System.” Journal of the American Medical Informatics Association, 2019.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388087"/>
                </a:solidFill>
                <a:latin typeface="Calibri"/>
              </a:rPr>
              <a:t>•  </a:t>
            </a:r>
            <a:r>
              <a:rPr sz="1250" b="0">
                <a:solidFill>
                  <a:srgbClr val="17323A"/>
                </a:solidFill>
                <a:latin typeface="Calibri"/>
              </a:rPr>
              <a:t>Yuan, C., Ryan, P. B., et al. “Criteria2Query: a natural language interface to clinical databases for cohort definition.” JAMIA 26(4), 2019, 294-305.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388087"/>
                </a:solidFill>
                <a:latin typeface="Calibri"/>
              </a:rPr>
              <a:t>•  </a:t>
            </a:r>
            <a:r>
              <a:rPr sz="1250" b="0">
                <a:solidFill>
                  <a:srgbClr val="17323A"/>
                </a:solidFill>
                <a:latin typeface="Calibri"/>
              </a:rPr>
              <a:t>Ni, Y., Kennebeck, S., Dexheimer, J. W., et al. “Automated clinical trial eligibility prescreening: increasing the efficiency of patient identification for clinical trials in the emergency department.” JAMIA 22(1), 2015, 166-178.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388087"/>
                </a:solidFill>
                <a:latin typeface="Calibri"/>
              </a:rPr>
              <a:t>•  </a:t>
            </a:r>
            <a:r>
              <a:rPr sz="1250" b="0">
                <a:solidFill>
                  <a:srgbClr val="17323A"/>
                </a:solidFill>
                <a:latin typeface="Calibri"/>
              </a:rPr>
              <a:t>Murcia, V. M., Aggarwal, V., et al. “Automating clinical trial matches via natural language processing of synthetic electronic health records and clinical trial eligibility criteria.” Journal of Biomedical Informatics, 2023.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388087"/>
                </a:solidFill>
                <a:latin typeface="Calibri"/>
              </a:rPr>
              <a:t>•  </a:t>
            </a:r>
            <a:r>
              <a:rPr sz="1250" b="0">
                <a:solidFill>
                  <a:srgbClr val="17323A"/>
                </a:solidFill>
                <a:latin typeface="Calibri"/>
              </a:rPr>
              <a:t>Wang, K., Cui, H., Zhu, Y., et al. “Evaluation of an artificial intelligence-based clinical trial matching system in Chinese patients with hepatocellular carcinoma: a retrospective study.” BMC Cancer 24(1), 2024, 246.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388087"/>
                </a:solidFill>
                <a:latin typeface="Calibri"/>
              </a:rPr>
              <a:t>•  </a:t>
            </a:r>
            <a:r>
              <a:rPr sz="1250" b="0">
                <a:solidFill>
                  <a:srgbClr val="17323A"/>
                </a:solidFill>
                <a:latin typeface="Calibri"/>
              </a:rPr>
              <a:t>Jin, Q., Wang, Z., Floudas, C. S., Sun, J., Lu, Z. “Matching patients to clinical trials with large language models (TrialGPT).” Nature Communications 15, 2024, 9074.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388087"/>
                </a:solidFill>
                <a:latin typeface="Calibri"/>
              </a:rPr>
              <a:t>•  </a:t>
            </a:r>
            <a:r>
              <a:rPr sz="1250" b="0">
                <a:solidFill>
                  <a:srgbClr val="17323A"/>
                </a:solidFill>
                <a:latin typeface="Calibri"/>
              </a:rPr>
              <a:t>Miotto, R., Weng, C. “Case-based reasoning using electronic health records efficiently identifies eligible patients for clinical trials.” JAMIA 22(e1), 2015, e141-e150.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388087"/>
                </a:solidFill>
                <a:latin typeface="Calibri"/>
              </a:rPr>
              <a:t>•  </a:t>
            </a:r>
            <a:r>
              <a:rPr sz="1250" b="0">
                <a:solidFill>
                  <a:srgbClr val="17323A"/>
                </a:solidFill>
                <a:latin typeface="Calibri"/>
              </a:rPr>
              <a:t>Devlin, J., Chang, M.-W., Lee, K., Toutanova, K. “BERT: Pre-training of Deep Bidirectional Transformers for Language Understanding.” NAACL-HLT, 2019.  (DistilBERT: Sanh et al., 2019)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8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4400" b="1">
                <a:solidFill>
                  <a:srgbClr val="2E6A70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2200" b="0">
                <a:solidFill>
                  <a:srgbClr val="17323A"/>
                </a:solidFill>
                <a:latin typeface="Calibri"/>
              </a:rPr>
              <a:t>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3749039"/>
            <a:ext cx="7406640" cy="1371600"/>
          </a:xfrm>
          <a:prstGeom prst="roundRect">
            <a:avLst/>
          </a:prstGeom>
          <a:solidFill>
            <a:srgbClr val="D7ECEF"/>
          </a:solidFill>
          <a:ln w="15875">
            <a:solidFill>
              <a:srgbClr val="388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2E6A70"/>
                </a:solidFill>
                <a:latin typeface="Calibri"/>
              </a:rPr>
              <a:t>Live demo</a:t>
            </a:r>
            <a:r>
              <a:rPr sz="1400" b="1">
                <a:solidFill>
                  <a:srgbClr val="2E6A70"/>
                </a:solidFill>
                <a:latin typeface="Calibri"/>
              </a:rPr>
              <a:t>https://ctq-clinical-trial-qualifier.onrender.com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E6D70"/>
                </a:solidFill>
                <a:latin typeface="Calibri"/>
              </a:rPr>
              <a:t>(live deployment - first load after 15 min idle wakes the free-tier server in ~50 s; the PDF report CTQ_Full_Project_Report.pdf shows the same screens)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